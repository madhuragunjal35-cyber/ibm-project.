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_rels/presentation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7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rtl="0">
  <p:sldMasterIdLst>
    <p:sldMasterId id="2147483648" r:id="rId2"/>
    <p:sldMasterId id="214748365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93372E2-F8D9-4200-A04D-11DD05AA050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838080" y="621360"/>
            <a:ext cx="10514520" cy="811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1A1C8CB-A70E-46B7-8306-3C71AAB2561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Noto Sans CJK SC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Noto Sans CJK SC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C8FBD84-D8EA-47B3-AE72-2480B8C0352F}" type="slidenum">
              <a:rPr b="0" lang="en-US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Noto Sans CJK SC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Noto Sans CJK SC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uFillTx/>
                <a:latin typeface="Noto Sans CJK SC"/>
              </a:rPr>
              <a:t>Double-tap to edit the title text format</a:t>
            </a:r>
            <a:endParaRPr b="0" lang="en-US" sz="44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Noto Sans CJK SC"/>
              </a:rPr>
              <a:t>Double-tap to edit the outline text format</a:t>
            </a:r>
            <a:endParaRPr b="0" lang="en-US" sz="32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lvl="1" marL="864000" indent="-324000">
              <a:spcBef>
                <a:spcPts val="1134"/>
              </a:spcBef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Noto Sans CJK SC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lvl="2" marL="1296000" indent="-288000">
              <a:spcBef>
                <a:spcPts val="850"/>
              </a:spcBef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Noto Sans CJK SC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lvl="3" marL="1728000" indent="-216000">
              <a:spcBef>
                <a:spcPts val="567"/>
              </a:spcBef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Noto Sans CJK SC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lvl="4" marL="2160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Noto Sans CJK SC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lvl="5" marL="2592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Noto Sans CJK SC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lvl="6" marL="3024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Noto Sans CJK SC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889560"/>
            <a:ext cx="105145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Noto Sans CJK SC"/>
              </a:rPr>
              <a:t>Double-tap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Noto Sans CJK SC"/>
              </a:rPr>
              <a:t>Double-tap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lvl="1" marL="864000" indent="-324000">
              <a:spcBef>
                <a:spcPts val="1134"/>
              </a:spcBef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Noto Sans CJK SC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lvl="2" marL="1296000" indent="-288000">
              <a:spcBef>
                <a:spcPts val="850"/>
              </a:spcBef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Noto Sans CJK SC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lvl="3" marL="1728000" indent="-216000">
              <a:spcBef>
                <a:spcPts val="567"/>
              </a:spcBef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Noto Sans CJK SC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lvl="4" marL="2160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Noto Sans CJK SC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lvl="5" marL="2592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Noto Sans CJK SC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lvl="6" marL="3024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Noto Sans CJK SC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Noto Sans CJK SC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Noto Sans CJK SC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E2E36EB-085E-4300-9A2B-481331B41655}" type="slidenum">
              <a:rPr b="0" lang="en-US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Noto Sans CJK SC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Noto Sans CJK SC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hyperlink" Target="https://github.com/madhuragunjal35-cyber/Ibm-project" TargetMode="External"/><Relationship Id="rId2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520" cy="285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66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IBM University Engagement Project Submission</a:t>
            </a:r>
            <a:br>
              <a:rPr sz="6600"/>
            </a:br>
            <a:endParaRPr b="0" lang="en-US" sz="66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1014840" y="3903840"/>
            <a:ext cx="1051452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228600"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i="1" lang="en-US" sz="24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“</a:t>
            </a:r>
            <a:r>
              <a:rPr b="1" i="1" lang="en-US" sz="24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Exploring the Power of Agentic AI with IBM Granite and LangFlow”</a:t>
            </a:r>
            <a:endParaRPr b="0" lang="en-US" sz="24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92;p2"/>
          <p:cNvSpPr/>
          <p:nvPr/>
        </p:nvSpPr>
        <p:spPr>
          <a:xfrm>
            <a:off x="690480" y="4425480"/>
            <a:ext cx="1079460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endParaRPr b="0" lang="en-US" sz="1500" strike="noStrike" u="none">
              <a:solidFill>
                <a:schemeClr val="dk1"/>
              </a:solidFill>
              <a:uFillTx/>
              <a:latin typeface="Times New Roman"/>
              <a:ea typeface="Times New Roman"/>
            </a:endParaRPr>
          </a:p>
        </p:txBody>
      </p:sp>
      <p:sp>
        <p:nvSpPr>
          <p:cNvPr id="15" name="Google Shape;95;p2"/>
          <p:cNvSpPr/>
          <p:nvPr/>
        </p:nvSpPr>
        <p:spPr>
          <a:xfrm>
            <a:off x="1102320" y="1174680"/>
            <a:ext cx="7425360" cy="45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90000"/>
              </a:lnSpc>
              <a:tabLst>
                <a:tab algn="l" pos="0"/>
              </a:tabLst>
            </a:pPr>
            <a:endParaRPr b="1" lang="en-US" sz="3200" strike="noStrike" u="none">
              <a:solidFill>
                <a:srgbClr val="002060"/>
              </a:solidFill>
              <a:uFillTx/>
              <a:latin typeface="Times New Roman"/>
              <a:ea typeface="Times New Roman"/>
            </a:endParaRPr>
          </a:p>
        </p:txBody>
      </p:sp>
      <p:graphicFrame>
        <p:nvGraphicFramePr>
          <p:cNvPr id="16" name="Google Shape;96;p2"/>
          <p:cNvGraphicFramePr/>
          <p:nvPr/>
        </p:nvGraphicFramePr>
        <p:xfrm>
          <a:off x="1299240" y="2600280"/>
          <a:ext cx="9394200" cy="2166840"/>
        </p:xfrm>
        <a:graphic>
          <a:graphicData uri="http://schemas.openxmlformats.org/drawingml/2006/table">
            <a:tbl>
              <a:tblPr rtl="0" firstCol="0" lastCol="0" firstRow="0" lastRow="0" bandRow="0" bandCol="0"/>
              <a:tblGrid>
                <a:gridCol w="2064600"/>
                <a:gridCol w="2443320"/>
                <a:gridCol w="2443320"/>
                <a:gridCol w="2443320"/>
              </a:tblGrid>
              <a:tr h="97308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Student Name</a:t>
                      </a:r>
                      <a:endParaRPr b="0" lang="en-US" sz="1800" strike="noStrike" u="none">
                        <a:solidFill>
                          <a:srgbClr val="ffffff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Recent Passport Photo</a:t>
                      </a:r>
                      <a:endParaRPr b="0" lang="en-US" sz="1800" strike="noStrike" u="none">
                        <a:solidFill>
                          <a:srgbClr val="ffffff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Calibri"/>
                        </a:rPr>
                        <a:t>Email ID </a:t>
                      </a:r>
                      <a:endParaRPr b="0" lang="en-US" sz="1800" strike="noStrike" u="none">
                        <a:solidFill>
                          <a:srgbClr val="ffffff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Calibri"/>
                        </a:rPr>
                        <a:t>Mobile number</a:t>
                      </a:r>
                      <a:endParaRPr b="0" lang="en-US" sz="1800" strike="noStrike" u="none">
                        <a:solidFill>
                          <a:srgbClr val="ffffff"/>
                        </a:solidFill>
                        <a:uFillTx/>
                        <a:latin typeface="Noto Sans CJK SC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Calibri"/>
                        </a:rPr>
                        <a:t>[WhatsApp] </a:t>
                      </a:r>
                      <a:endParaRPr b="0" lang="en-US" sz="1800" strike="noStrike" u="none">
                        <a:solidFill>
                          <a:srgbClr val="ffffff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</a:tr>
              <a:tr h="11937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MADHURA BABAN GUNJAL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  <a:ea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madhuragunjal35@gmail.com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9175969951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3"/>
          <p:cNvSpPr/>
          <p:nvPr/>
        </p:nvSpPr>
        <p:spPr>
          <a:xfrm>
            <a:off x="1206000" y="1470600"/>
            <a:ext cx="10279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Domain of  Project – </a:t>
            </a:r>
            <a:endParaRPr b="0" lang="en-US" sz="24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8" name="TextBox 6"/>
          <p:cNvSpPr/>
          <p:nvPr/>
        </p:nvSpPr>
        <p:spPr>
          <a:xfrm>
            <a:off x="1206000" y="551880"/>
            <a:ext cx="95799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Project Tile – </a:t>
            </a:r>
            <a:r>
              <a:rPr b="1" lang="en-US" sz="16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HopeGuard AI – An Agentic, Retrieval‑Augmented Mental‑Health Awareness </a:t>
            </a:r>
            <a:endParaRPr b="0" lang="en-US" sz="16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19" name="TextBox 5"/>
          <p:cNvSpPr/>
          <p:nvPr/>
        </p:nvSpPr>
        <p:spPr>
          <a:xfrm>
            <a:off x="4277160" y="1563840"/>
            <a:ext cx="60948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trike="noStrike" u="none">
                <a:solidFill>
                  <a:srgbClr val="161616"/>
                </a:solidFill>
                <a:uFillTx/>
                <a:latin typeface="IBM Plex Sans"/>
                <a:ea typeface="Arial"/>
              </a:rPr>
              <a:t>Mental‑Health Technology</a:t>
            </a:r>
            <a:endParaRPr b="0" lang="en-US" sz="16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pic>
        <p:nvPicPr>
          <p:cNvPr id="20" name="" descr=""/>
          <p:cNvPicPr/>
          <p:nvPr/>
        </p:nvPicPr>
        <p:blipFill>
          <a:blip r:embed="rId1"/>
          <a:stretch/>
        </p:blipFill>
        <p:spPr>
          <a:xfrm>
            <a:off x="3963600" y="3647520"/>
            <a:ext cx="1116720" cy="1049400"/>
          </a:xfrm>
          <a:prstGeom prst="rect">
            <a:avLst/>
          </a:prstGeom>
          <a:noFill/>
          <a:ln w="252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"/>
          <p:cNvSpPr/>
          <p:nvPr/>
        </p:nvSpPr>
        <p:spPr>
          <a:xfrm>
            <a:off x="576000" y="704160"/>
            <a:ext cx="72136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Problem Statement -</a:t>
            </a:r>
            <a:endParaRPr b="0" lang="en-US" sz="24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2" name="TextBox 3"/>
          <p:cNvSpPr/>
          <p:nvPr/>
        </p:nvSpPr>
        <p:spPr>
          <a:xfrm>
            <a:off x="576000" y="1450440"/>
            <a:ext cx="8429040" cy="38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r>
              <a:rPr b="0" lang="en-US" sz="1800" strike="noStrike" u="none">
                <a:solidFill>
                  <a:srgbClr val="161616"/>
                </a:solidFill>
                <a:uFillTx/>
                <a:latin typeface="IBM Plex Sans"/>
                <a:ea typeface="Arial"/>
              </a:rPr>
              <a:t>Millions of people worldwide suffer from depression, anxiety, and suicidal ideation, yet:</a:t>
            </a:r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marL="216000" indent="-216000">
              <a:lnSpc>
                <a:spcPct val="100000"/>
              </a:lnSpc>
              <a:spcAft>
                <a:spcPts val="601"/>
              </a:spcAft>
              <a:buClr>
                <a:srgbClr val="000000"/>
              </a:buClr>
              <a:buFont typeface="Arial"/>
              <a:buAutoNum type="arabicPeriod"/>
            </a:pPr>
            <a:r>
              <a:rPr b="1" lang="en-US" sz="1800" strike="noStrike" u="none">
                <a:solidFill>
                  <a:srgbClr val="161616"/>
                </a:solidFill>
                <a:uFillTx/>
                <a:latin typeface="inherit"/>
                <a:ea typeface="Arial"/>
              </a:rPr>
              <a:t>Stigma &amp; low awareness</a:t>
            </a:r>
            <a:r>
              <a:rPr b="0" lang="en-US" sz="1800" strike="noStrike" u="none">
                <a:solidFill>
                  <a:srgbClr val="161616"/>
                </a:solidFill>
                <a:uFillTx/>
                <a:latin typeface="inherit"/>
                <a:ea typeface="Arial"/>
              </a:rPr>
              <a:t> keep many from seeking help.</a:t>
            </a:r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marL="216000" indent="-216000">
              <a:lnSpc>
                <a:spcPct val="100000"/>
              </a:lnSpc>
              <a:spcAft>
                <a:spcPts val="601"/>
              </a:spcAft>
              <a:buClr>
                <a:srgbClr val="000000"/>
              </a:buClr>
              <a:buFont typeface="Arial"/>
              <a:buAutoNum type="arabicPeriod"/>
            </a:pPr>
            <a:r>
              <a:rPr b="1" lang="en-US" sz="1800" strike="noStrike" u="none">
                <a:solidFill>
                  <a:srgbClr val="161616"/>
                </a:solidFill>
                <a:uFillTx/>
                <a:latin typeface="inherit"/>
                <a:ea typeface="Arial"/>
              </a:rPr>
              <a:t>Access gaps</a:t>
            </a:r>
            <a:r>
              <a:rPr b="0" lang="en-US" sz="1800" strike="noStrike" u="none">
                <a:solidFill>
                  <a:srgbClr val="161616"/>
                </a:solidFill>
                <a:uFillTx/>
                <a:latin typeface="inherit"/>
                <a:ea typeface="Arial"/>
              </a:rPr>
              <a:t> – professional care is costly, geographically limited, or delayed.</a:t>
            </a:r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marL="216000" indent="-216000">
              <a:lnSpc>
                <a:spcPct val="100000"/>
              </a:lnSpc>
              <a:spcAft>
                <a:spcPts val="601"/>
              </a:spcAft>
              <a:buClr>
                <a:srgbClr val="000000"/>
              </a:buClr>
              <a:buFont typeface="Arial"/>
              <a:buAutoNum type="arabicPeriod"/>
            </a:pPr>
            <a:r>
              <a:rPr b="1" lang="en-US" sz="1800" strike="noStrike" u="none">
                <a:solidFill>
                  <a:srgbClr val="161616"/>
                </a:solidFill>
                <a:uFillTx/>
                <a:latin typeface="inherit"/>
                <a:ea typeface="Arial"/>
              </a:rPr>
              <a:t>Reactive systems</a:t>
            </a:r>
            <a:r>
              <a:rPr b="0" lang="en-US" sz="1800" strike="noStrike" u="none">
                <a:solidFill>
                  <a:srgbClr val="161616"/>
                </a:solidFill>
                <a:uFillTx/>
                <a:latin typeface="inherit"/>
                <a:ea typeface="Arial"/>
              </a:rPr>
              <a:t> only intervene after a crisis has already escalated.</a:t>
            </a:r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marL="216000" indent="-216000">
              <a:lnSpc>
                <a:spcPct val="100000"/>
              </a:lnSpc>
              <a:spcAft>
                <a:spcPts val="601"/>
              </a:spcAft>
              <a:buClr>
                <a:srgbClr val="000000"/>
              </a:buClr>
              <a:buFont typeface="Arial"/>
              <a:buAutoNum type="arabicPeriod"/>
            </a:pPr>
            <a:r>
              <a:rPr b="1" lang="en-US" sz="1800" strike="noStrike" u="none">
                <a:solidFill>
                  <a:srgbClr val="161616"/>
                </a:solidFill>
                <a:uFillTx/>
                <a:latin typeface="inherit"/>
                <a:ea typeface="Arial"/>
              </a:rPr>
              <a:t>Early‑signal detection</a:t>
            </a:r>
            <a:r>
              <a:rPr b="0" lang="en-US" sz="1800" strike="noStrike" u="none">
                <a:solidFill>
                  <a:srgbClr val="161616"/>
                </a:solidFill>
                <a:uFillTx/>
                <a:latin typeface="inherit"/>
                <a:ea typeface="Arial"/>
              </a:rPr>
              <a:t> in free‑form text (chat, journal, social posts) is technically difficult and risky without proper safeguards.</a:t>
            </a:r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>
              <a:lnSpc>
                <a:spcPct val="100000"/>
              </a:lnSpc>
              <a:spcAft>
                <a:spcPts val="1199"/>
              </a:spcAft>
            </a:pPr>
            <a:r>
              <a:rPr b="0" lang="en-US" sz="1800" strike="noStrike" u="none">
                <a:solidFill>
                  <a:srgbClr val="161616"/>
                </a:solidFill>
                <a:uFillTx/>
                <a:latin typeface="IBM Plex Sans"/>
                <a:ea typeface="Arial"/>
              </a:rPr>
              <a:t>A solution is needed that </a:t>
            </a:r>
            <a:r>
              <a:rPr b="1" lang="en-US" sz="1800" strike="noStrike" u="none">
                <a:solidFill>
                  <a:srgbClr val="161616"/>
                </a:solidFill>
                <a:uFillTx/>
                <a:latin typeface="inherit"/>
                <a:ea typeface="Arial"/>
              </a:rPr>
              <a:t>educates, detects early distress, offers empathetic support, predicts risk, and connects users to human help – all while being safe, transparent, and privacy‑preserving</a:t>
            </a:r>
            <a:r>
              <a:rPr b="0" lang="en-US" sz="1800" strike="noStrike" u="none">
                <a:solidFill>
                  <a:srgbClr val="161616"/>
                </a:solidFill>
                <a:uFillTx/>
                <a:latin typeface="IBM Plex Sans"/>
                <a:ea typeface="Arial"/>
              </a:rPr>
              <a:t>.</a:t>
            </a:r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>
              <a:lnSpc>
                <a:spcPct val="100000"/>
              </a:lnSpc>
            </a:pPr>
            <a:br>
              <a:rPr sz="1400"/>
            </a:br>
            <a:endParaRPr b="0" lang="en-US" sz="14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"/>
          <p:cNvSpPr/>
          <p:nvPr/>
        </p:nvSpPr>
        <p:spPr>
          <a:xfrm>
            <a:off x="576000" y="310680"/>
            <a:ext cx="72136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Proposed Solution -</a:t>
            </a:r>
            <a:endParaRPr b="0" lang="en-US" sz="24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graphicFrame>
        <p:nvGraphicFramePr>
          <p:cNvPr id="24" name="Table 1"/>
          <p:cNvGraphicFramePr/>
          <p:nvPr/>
        </p:nvGraphicFramePr>
        <p:xfrm>
          <a:off x="649080" y="924120"/>
          <a:ext cx="9250920" cy="5865120"/>
        </p:xfrm>
        <a:graphic>
          <a:graphicData uri="http://schemas.openxmlformats.org/drawingml/2006/table">
            <a:tbl>
              <a:tblPr rtl="0" firstCol="0" lastCol="0" firstRow="0" lastRow="0" bandRow="0" bandCol="0"/>
              <a:tblGrid>
                <a:gridCol w="3083760"/>
                <a:gridCol w="3083760"/>
                <a:gridCol w="3083760"/>
              </a:tblGrid>
              <a:tr h="122400">
                <a:tc>
                  <a:txBody>
                    <a:bodyPr lIns="33840" rIns="338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2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Layer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33840" marR="338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5760">
                      <a:solidFill>
                        <a:srgbClr val="e0b690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 lIns="33840" rIns="338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2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Function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33840" marR="338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5760">
                      <a:solidFill>
                        <a:srgbClr val="20aa90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 lIns="33840" rIns="338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2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Key Features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33840" marR="338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5760">
                      <a:solidFill>
                        <a:srgbClr val="209c8f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</a:tr>
              <a:tr h="808920">
                <a:tc>
                  <a:txBody>
                    <a:bodyPr lIns="33840" rIns="338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2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Awareness &amp; Education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33840" marR="338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e0b690"/>
                      </a:solidFill>
                      <a:prstDash val="solid"/>
                    </a:lnT>
                    <a:lnB w="5760">
                      <a:solidFill>
                        <a:srgbClr val="80b3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3840" rIns="338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Pushes curated, evidence‑based content (mindfulness exercises, coping‑toolkits, self‑care checklists).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33840" marR="338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20aa90"/>
                      </a:solidFill>
                      <a:prstDash val="solid"/>
                    </a:lnT>
                    <a:lnB w="5760">
                      <a:solidFill>
                        <a:srgbClr val="a0b1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3840" rIns="338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✅ </a:t>
                      </a:r>
                      <a:r>
                        <a:rPr b="0" lang="en-US" sz="12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Daily “Wellness Tip” cards</a:t>
                      </a:r>
                      <a:br>
                        <a:rPr sz="1200"/>
                      </a:br>
                      <a:r>
                        <a:rPr b="0" lang="en-US" sz="12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✅ Interactive CBT‑style worksheets</a:t>
                      </a:r>
                      <a:br>
                        <a:rPr sz="1200"/>
                      </a:br>
                      <a:r>
                        <a:rPr b="0" lang="en-US" sz="12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✅ Multi‑language resource library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33840" marR="338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209c8f"/>
                      </a:solidFill>
                      <a:prstDash val="solid"/>
                    </a:lnT>
                    <a:lnB w="5760">
                      <a:solidFill>
                        <a:srgbClr val="e0a4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44960">
                <a:tc>
                  <a:txBody>
                    <a:bodyPr lIns="33840" rIns="338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2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Early Detection (RAG)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33840" marR="338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80b390"/>
                      </a:solidFill>
                      <a:prstDash val="solid"/>
                    </a:lnT>
                    <a:lnB w="5760">
                      <a:solidFill>
                        <a:srgbClr val="40a2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3840" rIns="338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Retrieves relevant mental‑health literature &amp; prior user entries, then analyses incoming text for distress signals using a fine‑tuned LLM + sentiment/psycholinguistic models.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33840" marR="338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a0b190"/>
                      </a:solidFill>
                      <a:prstDash val="solid"/>
                    </a:lnT>
                    <a:lnB w="5760">
                      <a:solidFill>
                        <a:srgbClr val="80b3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3840" rIns="338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🔎 </a:t>
                      </a:r>
                      <a:r>
                        <a:rPr b="0" lang="en-US" sz="12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Retrieval from a private vector store of trusted resources (WHO, NAMI, APA)</a:t>
                      </a:r>
                      <a:br>
                        <a:rPr sz="1200"/>
                      </a:br>
                      <a:r>
                        <a:rPr b="0" lang="en-US" sz="12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🔍 Real‑time signal scoring (sadness, hopelessness, suicidal ideation)</a:t>
                      </a:r>
                      <a:br>
                        <a:rPr sz="1200"/>
                      </a:br>
                      <a:r>
                        <a:rPr b="0" lang="en-US" sz="12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⚠️ Tiered risk levels (low/medium/high)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33840" marR="338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e0a490"/>
                      </a:solidFill>
                      <a:prstDash val="solid"/>
                    </a:lnT>
                    <a:lnB w="5760">
                      <a:solidFill>
                        <a:srgbClr val="80b3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650960">
                <a:tc>
                  <a:txBody>
                    <a:bodyPr lIns="33840" rIns="338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2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Empathetic Support &amp; Risk Management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33840" marR="338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40a290"/>
                      </a:solidFill>
                      <a:prstDash val="solid"/>
                    </a:lnT>
                    <a:lnB w="5760">
                      <a:solidFill>
                        <a:srgbClr val="00b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3840" rIns="338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Generates compassionate replies, offers coping suggestions, and, when risk crosses a threshold, initiates safe‑action protocols.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33840" marR="338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80b390"/>
                      </a:solidFill>
                      <a:prstDash val="solid"/>
                    </a:lnT>
                    <a:lnB w="5760">
                      <a:solidFill>
                        <a:srgbClr val="e0ad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3840" rIns="338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🤝 </a:t>
                      </a:r>
                      <a:r>
                        <a:rPr b="0" lang="en-US" sz="12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Active‑listening prompts, reflective mirroring</a:t>
                      </a:r>
                      <a:br>
                        <a:rPr sz="1200"/>
                      </a:br>
                      <a:r>
                        <a:rPr b="0" lang="en-US" sz="12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🛑 Built‑in “Safety‑Net” (disclaimer, de‑escalation script)</a:t>
                      </a:r>
                      <a:br>
                        <a:rPr sz="1200"/>
                      </a:br>
                      <a:r>
                        <a:rPr b="0" lang="en-US" sz="12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🔗 With user consent, auto‑shares helpline numbers, schedules a human‑counselor chat, or sends an alert to a trusted contact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33840" marR="338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80b390"/>
                      </a:solidFill>
                      <a:prstDash val="solid"/>
                    </a:lnT>
                    <a:lnB w="5760">
                      <a:solidFill>
                        <a:srgbClr val="40a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62280">
                <a:tc>
                  <a:txBody>
                    <a:bodyPr lIns="33840" rIns="338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2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Agentic Planning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33840" marR="338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00b890"/>
                      </a:solidFill>
                      <a:prstDash val="solid"/>
                    </a:lnT>
                    <a:lnB w="5760">
                      <a:solidFill>
                        <a:srgbClr val="00b8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3840" rIns="338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The AI can </a:t>
                      </a:r>
                      <a:r>
                        <a:rPr b="1" lang="en-US" sz="12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self‑orchestrate</a:t>
                      </a:r>
                      <a:r>
                        <a:rPr b="0" lang="en-US" sz="12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 actions (e.g., fetch a specific coping module, schedule a follow‑up reminder, call an external API for a crisis‑line).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33840" marR="338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e0ad90"/>
                      </a:solidFill>
                      <a:prstDash val="solid"/>
                    </a:lnT>
                    <a:lnB w="5760">
                      <a:solidFill>
                        <a:srgbClr val="c0b5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3840" rIns="338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🧭 </a:t>
                      </a:r>
                      <a:r>
                        <a:rPr b="0" lang="en-US" sz="12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Goal‑oriented planner (detect → inform → intervene)</a:t>
                      </a:r>
                      <a:br>
                        <a:rPr sz="1200"/>
                      </a:br>
                      <a:r>
                        <a:rPr b="0" lang="en-US" sz="12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🔧 Tool‑use: calendar, SMS/WhatsApp API, secure messaging platform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33840" marR="338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40a890"/>
                      </a:solidFill>
                      <a:prstDash val="solid"/>
                    </a:lnT>
                    <a:lnB w="5760">
                      <a:solidFill>
                        <a:srgbClr val="c0a99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2600">
                <a:tc>
                  <a:txBody>
                    <a:bodyPr lIns="33840" rIns="338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2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Feedback Loop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33840" marR="338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00b890"/>
                      </a:solidFill>
                      <a:prstDash val="solid"/>
                    </a:lnT>
                    <a:lnB w="5760">
                      <a:solidFill>
                        <a:srgbClr val="40a89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lIns="33840" rIns="338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Captures user‑feedback on helpfulness, updates risk‑scoring models, and continuously expands the resource base.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33840" marR="338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c0b590"/>
                      </a:solidFill>
                      <a:prstDash val="solid"/>
                    </a:lnT>
                    <a:lnB w="5760">
                      <a:solidFill>
                        <a:srgbClr val="e0a79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lIns="33840" rIns="338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📊 </a:t>
                      </a:r>
                      <a:r>
                        <a:rPr b="0" lang="en-US" sz="12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Adaptive learning (no‑personal‑data retraining)</a:t>
                      </a:r>
                      <a:br>
                        <a:rPr sz="1200"/>
                      </a:br>
                      <a:r>
                        <a:rPr b="0" lang="en-US" sz="12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🗂️ Periodic human‑review of anonymised logs for quality control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33840" marR="338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c0a990"/>
                      </a:solidFill>
                      <a:prstDash val="solid"/>
                    </a:lnT>
                    <a:lnB w="5760">
                      <a:solidFill>
                        <a:srgbClr val="e0a49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1"/>
          <p:cNvSpPr/>
          <p:nvPr/>
        </p:nvSpPr>
        <p:spPr>
          <a:xfrm>
            <a:off x="777240" y="484560"/>
            <a:ext cx="71222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Technology Used</a:t>
            </a:r>
            <a:endParaRPr b="0" lang="en-US" sz="24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graphicFrame>
        <p:nvGraphicFramePr>
          <p:cNvPr id="26" name="Table 3"/>
          <p:cNvGraphicFramePr/>
          <p:nvPr/>
        </p:nvGraphicFramePr>
        <p:xfrm>
          <a:off x="5340960" y="1825560"/>
          <a:ext cx="1509480" cy="4791960"/>
        </p:xfrm>
        <a:graphic>
          <a:graphicData uri="http://schemas.openxmlformats.org/drawingml/2006/table">
            <a:tbl>
              <a:tblPr rtl="0" firstCol="0" lastCol="0" firstRow="0" lastRow="0" bandRow="0" bandCol="0"/>
              <a:tblGrid>
                <a:gridCol w="754920"/>
                <a:gridCol w="754920"/>
              </a:tblGrid>
              <a:tr h="124920">
                <a:tc>
                  <a:txBody>
                    <a:bodyPr lIns="45360" rIns="45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5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Category</a:t>
                      </a:r>
                      <a:endParaRPr b="0" lang="en-US" sz="5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45360" marR="45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5760">
                      <a:solidFill>
                        <a:srgbClr val="20a58f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 lIns="45360" rIns="45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5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Tools / Libraries</a:t>
                      </a:r>
                      <a:endParaRPr b="0" lang="en-US" sz="5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45360" marR="45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5760">
                      <a:solidFill>
                        <a:srgbClr val="00ad8f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</a:tr>
              <a:tr h="363240">
                <a:tc>
                  <a:txBody>
                    <a:bodyPr lIns="45360" rIns="45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5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LLM Core</a:t>
                      </a:r>
                      <a:endParaRPr b="0" lang="en-US" sz="5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45360" marR="45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20a58f"/>
                      </a:solidFill>
                      <a:prstDash val="solid"/>
                    </a:lnT>
                    <a:lnB w="5760">
                      <a:solidFill>
                        <a:srgbClr val="20b18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360" rIns="45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5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OpenAI GPT‑4o (or Anthropic Claude 3) – for generation &amp; reasoning</a:t>
                      </a:r>
                      <a:endParaRPr b="0" lang="en-US" sz="5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45360" marR="45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00ad8f"/>
                      </a:solidFill>
                      <a:prstDash val="solid"/>
                    </a:lnT>
                    <a:lnB w="5760">
                      <a:solidFill>
                        <a:srgbClr val="60a48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2360">
                <a:tc>
                  <a:txBody>
                    <a:bodyPr lIns="45360" rIns="45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5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Retrieval‑Augmented Generation</a:t>
                      </a:r>
                      <a:endParaRPr b="0" lang="en-US" sz="5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45360" marR="45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20b18f"/>
                      </a:solidFill>
                      <a:prstDash val="solid"/>
                    </a:lnT>
                    <a:lnB w="5760">
                      <a:solidFill>
                        <a:srgbClr val="80a28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360" rIns="45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5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LangChain + FAISS / ChromaDB vector store (encrypted at rest) containing vetted mental‑health documents</a:t>
                      </a:r>
                      <a:endParaRPr b="0" lang="en-US" sz="5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45360" marR="45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60a48f"/>
                      </a:solidFill>
                      <a:prstDash val="solid"/>
                    </a:lnT>
                    <a:lnB w="5760">
                      <a:solidFill>
                        <a:srgbClr val="20a28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40600">
                <a:tc>
                  <a:txBody>
                    <a:bodyPr lIns="45360" rIns="45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5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Distress‑Signal Detection</a:t>
                      </a:r>
                      <a:endParaRPr b="0" lang="en-US" sz="5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45360" marR="45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80a28f"/>
                      </a:solidFill>
                      <a:prstDash val="solid"/>
                    </a:lnT>
                    <a:lnB w="5760">
                      <a:solidFill>
                        <a:srgbClr val="a0a38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360" rIns="45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5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Fine‑tuned RoBERTa‑based sentiment model + LIWC‑style psycholinguistic features; threshold calibrated on public suicide‑prevention datasets (e.g., Reddit r/SuicideWatch)</a:t>
                      </a:r>
                      <a:endParaRPr b="0" lang="en-US" sz="5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45360" marR="45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20a28f"/>
                      </a:solidFill>
                      <a:prstDash val="solid"/>
                    </a:lnT>
                    <a:lnB w="5760">
                      <a:solidFill>
                        <a:srgbClr val="a0a38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3240">
                <a:tc>
                  <a:txBody>
                    <a:bodyPr lIns="45360" rIns="45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5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Agentic Planner</a:t>
                      </a:r>
                      <a:endParaRPr b="0" lang="en-US" sz="5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45360" marR="45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a0a38f"/>
                      </a:solidFill>
                      <a:prstDash val="solid"/>
                    </a:lnT>
                    <a:lnB w="5760">
                      <a:solidFill>
                        <a:srgbClr val="80a28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360" rIns="45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5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LangChain “Agents” (OpenAI Functions/Tool calls) + ReAct loop for tool selection</a:t>
                      </a:r>
                      <a:endParaRPr b="0" lang="en-US" sz="5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45360" marR="45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a0a38f"/>
                      </a:solidFill>
                      <a:prstDash val="solid"/>
                    </a:lnT>
                    <a:lnB w="5760">
                      <a:solidFill>
                        <a:srgbClr val="20b18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3240">
                <a:tc>
                  <a:txBody>
                    <a:bodyPr lIns="45360" rIns="45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5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Conversation Management</a:t>
                      </a:r>
                      <a:endParaRPr b="0" lang="en-US" sz="5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45360" marR="45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80a28f"/>
                      </a:solidFill>
                      <a:prstDash val="solid"/>
                    </a:lnT>
                    <a:lnB w="5760">
                      <a:solidFill>
                        <a:srgbClr val="60a78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360" rIns="45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5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Langflow UI for rapid workflow building; state‑machine for risk‑level transitions</a:t>
                      </a:r>
                      <a:endParaRPr b="0" lang="en-US" sz="5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45360" marR="45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20b18f"/>
                      </a:solidFill>
                      <a:prstDash val="solid"/>
                    </a:lnT>
                    <a:lnB w="5760">
                      <a:solidFill>
                        <a:srgbClr val="80ae8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1920">
                <a:tc>
                  <a:txBody>
                    <a:bodyPr lIns="45360" rIns="45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5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Safety &amp; Compliance</a:t>
                      </a:r>
                      <a:endParaRPr b="0" lang="en-US" sz="5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45360" marR="45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60a78f"/>
                      </a:solidFill>
                      <a:prstDash val="solid"/>
                    </a:lnT>
                    <a:lnB w="5760">
                      <a:solidFill>
                        <a:srgbClr val="80998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360" rIns="45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5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OpenAI Moderation API, custom profanity/trigger word filter, GDPR‑compliant data handling, HIPAA‑level encryption for any PHI</a:t>
                      </a:r>
                      <a:endParaRPr b="0" lang="en-US" sz="5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45360" marR="45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80ae8f"/>
                      </a:solidFill>
                      <a:prstDash val="solid"/>
                    </a:lnT>
                    <a:lnB w="5760">
                      <a:solidFill>
                        <a:srgbClr val="60a48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3240">
                <a:tc>
                  <a:txBody>
                    <a:bodyPr lIns="45360" rIns="45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5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Helpline Integration</a:t>
                      </a:r>
                      <a:endParaRPr b="0" lang="en-US" sz="5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45360" marR="45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80998f"/>
                      </a:solidFill>
                      <a:prstDash val="solid"/>
                    </a:lnT>
                    <a:lnB w="5760">
                      <a:solidFill>
                        <a:srgbClr val="00ad8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360" rIns="45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5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Twilio Programmable SMS/Voice, or local crisis‑line APIs (e.g., 988 US, Samaritans UK)</a:t>
                      </a:r>
                      <a:endParaRPr b="0" lang="en-US" sz="5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45360" marR="45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60a48f"/>
                      </a:solidFill>
                      <a:prstDash val="solid"/>
                    </a:lnT>
                    <a:lnB w="5760">
                      <a:solidFill>
                        <a:srgbClr val="20a28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2800">
                <a:tc>
                  <a:txBody>
                    <a:bodyPr lIns="45360" rIns="45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5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Deployment</a:t>
                      </a:r>
                      <a:endParaRPr b="0" lang="en-US" sz="5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45360" marR="45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00ad8f"/>
                      </a:solidFill>
                      <a:prstDash val="solid"/>
                    </a:lnT>
                    <a:lnB w="5760">
                      <a:solidFill>
                        <a:srgbClr val="60a48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360" rIns="45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5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Docker + Kubernetes (auto‑scale), CI/CD via GitHub Actions, monitoring with Prometheus/Grafana</a:t>
                      </a:r>
                      <a:endParaRPr b="0" lang="en-US" sz="5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45360" marR="45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20a28f"/>
                      </a:solidFill>
                      <a:prstDash val="solid"/>
                    </a:lnT>
                    <a:lnB w="5760">
                      <a:solidFill>
                        <a:srgbClr val="60a48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3240">
                <a:tc>
                  <a:txBody>
                    <a:bodyPr lIns="45360" rIns="45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5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Analytics &amp; Monitoring</a:t>
                      </a:r>
                      <a:endParaRPr b="0" lang="en-US" sz="5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45360" marR="45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60a48f"/>
                      </a:solidFill>
                      <a:prstDash val="solid"/>
                    </a:lnT>
                    <a:lnB w="5760">
                      <a:solidFill>
                        <a:srgbClr val="60a48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5360" rIns="45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5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Elastic Stack for anonymised log analysis, model drift detection</a:t>
                      </a:r>
                      <a:endParaRPr b="0" lang="en-US" sz="5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45360" marR="45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60a48f"/>
                      </a:solidFill>
                      <a:prstDash val="solid"/>
                    </a:lnT>
                    <a:lnB w="5760">
                      <a:solidFill>
                        <a:srgbClr val="00a78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" name="Table 4"/>
          <p:cNvGraphicFramePr/>
          <p:nvPr/>
        </p:nvGraphicFramePr>
        <p:xfrm>
          <a:off x="777240" y="1077480"/>
          <a:ext cx="10028520" cy="5406840"/>
        </p:xfrm>
        <a:graphic>
          <a:graphicData uri="http://schemas.openxmlformats.org/drawingml/2006/table">
            <a:tbl>
              <a:tblPr rtl="0" firstCol="0" lastCol="0" firstRow="0" lastRow="0" bandRow="0" bandCol="0"/>
              <a:tblGrid>
                <a:gridCol w="5014440"/>
                <a:gridCol w="5014440"/>
              </a:tblGrid>
              <a:tr h="215280">
                <a:tc>
                  <a:txBody>
                    <a:bodyPr lIns="65160" rIns="65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Langflow Node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65160" marR="651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5760">
                      <a:solidFill>
                        <a:srgbClr val="20a28f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 lIns="65160" rIns="65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Role in HopeGuard AI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65160" marR="651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5760">
                      <a:solidFill>
                        <a:srgbClr val="e0ab8f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</a:tr>
              <a:tr h="763920">
                <a:tc>
                  <a:txBody>
                    <a:bodyPr lIns="65160" rIns="65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Prompt Template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65160" marR="651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20a28f"/>
                      </a:solidFill>
                      <a:prstDash val="solid"/>
                    </a:lnT>
                    <a:lnB w="5760">
                      <a:solidFill>
                        <a:srgbClr val="80a58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5160" rIns="65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Stores system‑prompt with empathy guidelines, disclaimer, and risk‑level instructions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65160" marR="651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e0ab8f"/>
                      </a:solidFill>
                      <a:prstDash val="solid"/>
                    </a:lnT>
                    <a:lnB w="5760">
                      <a:solidFill>
                        <a:srgbClr val="00ad8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6760">
                <a:tc>
                  <a:txBody>
                    <a:bodyPr lIns="65160" rIns="65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Retriever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65160" marR="651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80a58f"/>
                      </a:solidFill>
                      <a:prstDash val="solid"/>
                    </a:lnT>
                    <a:lnB w="5760">
                      <a:solidFill>
                        <a:srgbClr val="80a58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5160" rIns="65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Connects to the vector DB, fetches top‑k relevant resources per user query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65160" marR="651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00ad8f"/>
                      </a:solidFill>
                      <a:prstDash val="solid"/>
                    </a:lnT>
                    <a:lnB w="5760">
                      <a:solidFill>
                        <a:srgbClr val="80a58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6760">
                <a:tc>
                  <a:txBody>
                    <a:bodyPr lIns="65160" rIns="65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LLM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65160" marR="651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80a58f"/>
                      </a:solidFill>
                      <a:prstDash val="solid"/>
                    </a:lnT>
                    <a:lnB w="5760">
                      <a:solidFill>
                        <a:srgbClr val="80ab8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5160" rIns="65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Generates responses (empathetic, educational, or safety‑net)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65160" marR="651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80a58f"/>
                      </a:solidFill>
                      <a:prstDash val="solid"/>
                    </a:lnT>
                    <a:lnB w="5760">
                      <a:solidFill>
                        <a:srgbClr val="20a58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01080">
                <a:tc>
                  <a:txBody>
                    <a:bodyPr lIns="65160" rIns="65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Conditional Router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65160" marR="651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80ab8f"/>
                      </a:solidFill>
                      <a:prstDash val="solid"/>
                    </a:lnT>
                    <a:lnB w="5760">
                      <a:solidFill>
                        <a:srgbClr val="80998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5160" rIns="65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Branches workflow based on risk‑score (low → education; medium → coping suggestions; high → emergency protocol)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65160" marR="651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20a58f"/>
                      </a:solidFill>
                      <a:prstDash val="solid"/>
                    </a:lnT>
                    <a:lnB w="5760">
                      <a:solidFill>
                        <a:srgbClr val="80a58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 lIns="65160" rIns="65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Tool Invocation (API Call)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65160" marR="651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80998f"/>
                      </a:solidFill>
                      <a:prstDash val="solid"/>
                    </a:lnT>
                    <a:lnB w="5760">
                      <a:solidFill>
                        <a:srgbClr val="00a78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5160" rIns="65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Calls external helpline API, schedules calendar reminders, sends SMS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65160" marR="651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80a58f"/>
                      </a:solidFill>
                      <a:prstDash val="solid"/>
                    </a:lnT>
                    <a:lnB w="5760">
                      <a:solidFill>
                        <a:srgbClr val="60ad8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 lIns="65160" rIns="65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Memory / Session Store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65160" marR="651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00a78f"/>
                      </a:solidFill>
                      <a:prstDash val="solid"/>
                    </a:lnT>
                    <a:lnB w="5760">
                      <a:solidFill>
                        <a:srgbClr val="60a48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5160" rIns="65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Persists conversation context &amp; user‑risk history across sessions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65160" marR="651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60ad8f"/>
                      </a:solidFill>
                      <a:prstDash val="solid"/>
                    </a:lnT>
                    <a:lnB w="5760">
                      <a:solidFill>
                        <a:srgbClr val="a0ac8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 lIns="65160" rIns="65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Evaluation / Post‑Processor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65160" marR="651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60a48f"/>
                      </a:solidFill>
                      <a:prstDash val="solid"/>
                    </a:lnT>
                    <a:lnB w="5760">
                      <a:solidFill>
                        <a:srgbClr val="e0ab8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5160" rIns="65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Runs profanity and trigger‑word filters before delivering output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65160" marR="651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a0ac8f"/>
                      </a:solidFill>
                      <a:prstDash val="solid"/>
                    </a:lnT>
                    <a:lnB w="5760">
                      <a:solidFill>
                        <a:srgbClr val="80a58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6760">
                <a:tc>
                  <a:txBody>
                    <a:bodyPr lIns="65160" rIns="65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Human‑in‑the‑Loop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65160" marR="651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e0ab8f"/>
                      </a:solidFill>
                      <a:prstDash val="solid"/>
                    </a:lnT>
                    <a:lnB w="5760">
                      <a:solidFill>
                        <a:srgbClr val="00a78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lIns="65160" rIns="65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Optional hand‑off node for a live counselor when risk is high or user requests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65160" marR="651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80a58f"/>
                      </a:solidFill>
                      <a:prstDash val="solid"/>
                    </a:lnT>
                    <a:lnB w="5760">
                      <a:solidFill>
                        <a:srgbClr val="00a78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135;p5"/>
          <p:cNvSpPr/>
          <p:nvPr/>
        </p:nvSpPr>
        <p:spPr>
          <a:xfrm>
            <a:off x="537480" y="323280"/>
            <a:ext cx="590796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Langflow</a:t>
            </a:r>
            <a:r>
              <a:rPr b="1" lang="en-US" sz="3500" strike="noStrike" u="none">
                <a:solidFill>
                  <a:srgbClr val="051d3a"/>
                </a:solidFill>
                <a:uFillTx/>
                <a:latin typeface="Times New Roman"/>
                <a:ea typeface="Times New Roman"/>
              </a:rPr>
              <a:t> </a:t>
            </a:r>
            <a:r>
              <a:rPr b="1" lang="en-US" sz="2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component Used -</a:t>
            </a:r>
            <a:endParaRPr b="0" lang="en-US" sz="24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29" name="Google Shape;148;p5"/>
          <p:cNvSpPr/>
          <p:nvPr/>
        </p:nvSpPr>
        <p:spPr>
          <a:xfrm>
            <a:off x="2264400" y="6784560"/>
            <a:ext cx="2139840" cy="22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9000"/>
              </a:lnSpc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uFillTx/>
              <a:latin typeface="Times New Roman"/>
              <a:ea typeface="Times New Roman"/>
            </a:endParaRPr>
          </a:p>
        </p:txBody>
      </p:sp>
      <p:sp>
        <p:nvSpPr>
          <p:cNvPr id="30" name="Google Shape;149;p5"/>
          <p:cNvSpPr/>
          <p:nvPr/>
        </p:nvSpPr>
        <p:spPr>
          <a:xfrm>
            <a:off x="1782720" y="7100280"/>
            <a:ext cx="31032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18000"/>
              </a:lnSpc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uFillTx/>
              <a:latin typeface="Times New Roman"/>
              <a:ea typeface="Times New Roman"/>
            </a:endParaRPr>
          </a:p>
        </p:txBody>
      </p:sp>
      <p:sp>
        <p:nvSpPr>
          <p:cNvPr id="31" name="Google Shape;150;p5"/>
          <p:cNvSpPr/>
          <p:nvPr/>
        </p:nvSpPr>
        <p:spPr>
          <a:xfrm>
            <a:off x="5732280" y="6784560"/>
            <a:ext cx="1792800" cy="22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9000"/>
              </a:lnSpc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uFillTx/>
              <a:latin typeface="Times New Roman"/>
              <a:ea typeface="Times New Roman"/>
            </a:endParaRPr>
          </a:p>
        </p:txBody>
      </p:sp>
      <p:sp>
        <p:nvSpPr>
          <p:cNvPr id="32" name="Google Shape;151;p5"/>
          <p:cNvSpPr/>
          <p:nvPr/>
        </p:nvSpPr>
        <p:spPr>
          <a:xfrm>
            <a:off x="5077440" y="7100280"/>
            <a:ext cx="31032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18000"/>
              </a:lnSpc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uFillTx/>
              <a:latin typeface="Times New Roman"/>
              <a:ea typeface="Times New Roman"/>
            </a:endParaRPr>
          </a:p>
        </p:txBody>
      </p:sp>
      <p:sp>
        <p:nvSpPr>
          <p:cNvPr id="33" name="Google Shape;152;p5"/>
          <p:cNvSpPr/>
          <p:nvPr/>
        </p:nvSpPr>
        <p:spPr>
          <a:xfrm>
            <a:off x="9027000" y="6784560"/>
            <a:ext cx="1792800" cy="22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9000"/>
              </a:lnSpc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uFillTx/>
              <a:latin typeface="Times New Roman"/>
              <a:ea typeface="Times New Roman"/>
            </a:endParaRPr>
          </a:p>
        </p:txBody>
      </p:sp>
      <p:sp>
        <p:nvSpPr>
          <p:cNvPr id="34" name="Google Shape;153;p5"/>
          <p:cNvSpPr/>
          <p:nvPr/>
        </p:nvSpPr>
        <p:spPr>
          <a:xfrm>
            <a:off x="8372160" y="7100280"/>
            <a:ext cx="31032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18000"/>
              </a:lnSpc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uFillTx/>
              <a:latin typeface="Times New Roman"/>
              <a:ea typeface="Times New Roman"/>
            </a:endParaRPr>
          </a:p>
        </p:txBody>
      </p:sp>
      <p:graphicFrame>
        <p:nvGraphicFramePr>
          <p:cNvPr id="35" name="Table 4"/>
          <p:cNvGraphicFramePr/>
          <p:nvPr/>
        </p:nvGraphicFramePr>
        <p:xfrm>
          <a:off x="537480" y="992880"/>
          <a:ext cx="10562040" cy="5733360"/>
        </p:xfrm>
        <a:graphic>
          <a:graphicData uri="http://schemas.openxmlformats.org/drawingml/2006/table">
            <a:tbl>
              <a:tblPr rtl="0" firstCol="0" lastCol="0" firstRow="0" lastRow="0" bandRow="0" bandCol="0"/>
              <a:tblGrid>
                <a:gridCol w="5281200"/>
                <a:gridCol w="5281200"/>
              </a:tblGrid>
              <a:tr h="234720">
                <a:tc>
                  <a:txBody>
                    <a:bodyPr lIns="65160" rIns="65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Langflow Node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65160" marR="651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5760">
                      <a:solidFill>
                        <a:srgbClr val="e01fab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 lIns="65160" rIns="65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Role in HopeGuard AI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65160" marR="651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5760">
                      <a:solidFill>
                        <a:srgbClr val="6027ab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</a:tr>
              <a:tr h="832320">
                <a:tc>
                  <a:txBody>
                    <a:bodyPr lIns="65160" rIns="65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Prompt Template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65160" marR="651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e01fab"/>
                      </a:solidFill>
                      <a:prstDash val="solid"/>
                    </a:lnT>
                    <a:lnB w="5760">
                      <a:solidFill>
                        <a:srgbClr val="2022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5160" rIns="65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Stores system‑prompt with empathy guidelines, disclaimer, and risk‑level instructions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65160" marR="651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6027ab"/>
                      </a:solidFill>
                      <a:prstDash val="solid"/>
                    </a:lnT>
                    <a:lnB w="5760">
                      <a:solidFill>
                        <a:srgbClr val="2025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2920">
                <a:tc>
                  <a:txBody>
                    <a:bodyPr lIns="65160" rIns="65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Retriever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65160" marR="651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2022ab"/>
                      </a:solidFill>
                      <a:prstDash val="solid"/>
                    </a:lnT>
                    <a:lnB w="5760">
                      <a:solidFill>
                        <a:srgbClr val="e01c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5160" rIns="65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Connects to the vector DB, fetches top‑k relevant resources per user query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65160" marR="651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2025ab"/>
                      </a:solidFill>
                      <a:prstDash val="solid"/>
                    </a:lnT>
                    <a:lnB w="5760">
                      <a:solidFill>
                        <a:srgbClr val="4029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2920">
                <a:tc>
                  <a:txBody>
                    <a:bodyPr lIns="65160" rIns="65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LLM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65160" marR="651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e01cab"/>
                      </a:solidFill>
                      <a:prstDash val="solid"/>
                    </a:lnT>
                    <a:lnB w="5760">
                      <a:solidFill>
                        <a:srgbClr val="e01f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5160" rIns="65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Generates responses (empathetic, educational, or safety‑net)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65160" marR="651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4029ab"/>
                      </a:solidFill>
                      <a:prstDash val="solid"/>
                    </a:lnT>
                    <a:lnB w="5760">
                      <a:solidFill>
                        <a:srgbClr val="e01c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81720">
                <a:tc>
                  <a:txBody>
                    <a:bodyPr lIns="65160" rIns="65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Conditional Router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65160" marR="651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e01fab"/>
                      </a:solidFill>
                      <a:prstDash val="solid"/>
                    </a:lnT>
                    <a:lnB w="5760">
                      <a:solidFill>
                        <a:srgbClr val="c024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5160" rIns="65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Branches workflow based on risk‑score (low → education; medium → coping suggestions; high → emergency protocol)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65160" marR="651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e01cab"/>
                      </a:solidFill>
                      <a:prstDash val="solid"/>
                    </a:lnT>
                    <a:lnB w="5760">
                      <a:solidFill>
                        <a:srgbClr val="2016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520">
                <a:tc>
                  <a:txBody>
                    <a:bodyPr lIns="65160" rIns="65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Tool Invocation (API Call)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65160" marR="651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c024ab"/>
                      </a:solidFill>
                      <a:prstDash val="solid"/>
                    </a:lnT>
                    <a:lnB w="5760">
                      <a:solidFill>
                        <a:srgbClr val="e01f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5160" rIns="65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Calls external helpline API, schedules calendar reminders, sends SMS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65160" marR="651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2016ab"/>
                      </a:solidFill>
                      <a:prstDash val="solid"/>
                    </a:lnT>
                    <a:lnB w="5760">
                      <a:solidFill>
                        <a:srgbClr val="c024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520">
                <a:tc>
                  <a:txBody>
                    <a:bodyPr lIns="65160" rIns="65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Memory / Session Store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65160" marR="651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e01fab"/>
                      </a:solidFill>
                      <a:prstDash val="solid"/>
                    </a:lnT>
                    <a:lnB w="5760">
                      <a:solidFill>
                        <a:srgbClr val="4020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5160" rIns="65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Persists conversation context &amp; user‑risk history across sessions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65160" marR="651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c024ab"/>
                      </a:solidFill>
                      <a:prstDash val="solid"/>
                    </a:lnT>
                    <a:lnB w="5760">
                      <a:solidFill>
                        <a:srgbClr val="c024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520">
                <a:tc>
                  <a:txBody>
                    <a:bodyPr lIns="65160" rIns="65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Evaluation / Post‑Processor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65160" marR="651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4020ab"/>
                      </a:solidFill>
                      <a:prstDash val="solid"/>
                    </a:lnT>
                    <a:lnB w="5760">
                      <a:solidFill>
                        <a:srgbClr val="a011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5160" rIns="65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Runs profanity and trigger‑word filters before delivering output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65160" marR="651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c024ab"/>
                      </a:solidFill>
                      <a:prstDash val="solid"/>
                    </a:lnT>
                    <a:lnB w="5760">
                      <a:solidFill>
                        <a:srgbClr val="c015a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2920">
                <a:tc>
                  <a:txBody>
                    <a:bodyPr lIns="65160" rIns="65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Human‑in‑the‑Loop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65160" marR="651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a011ab"/>
                      </a:solidFill>
                      <a:prstDash val="solid"/>
                    </a:lnT>
                    <a:lnB w="5760">
                      <a:solidFill>
                        <a:srgbClr val="8019ab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lIns="65160" rIns="65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Optional hand‑off node for a live counselor when risk is high or user requests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65160" marR="651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c015ab"/>
                      </a:solidFill>
                      <a:prstDash val="solid"/>
                    </a:lnT>
                    <a:lnB w="5760">
                      <a:solidFill>
                        <a:srgbClr val="c024ab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135;p5"/>
          <p:cNvSpPr/>
          <p:nvPr/>
        </p:nvSpPr>
        <p:spPr>
          <a:xfrm>
            <a:off x="537480" y="323280"/>
            <a:ext cx="590796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Langflow</a:t>
            </a:r>
            <a:r>
              <a:rPr b="1" lang="en-US" sz="3500" strike="noStrike" u="none">
                <a:solidFill>
                  <a:srgbClr val="051d3a"/>
                </a:solidFill>
                <a:uFillTx/>
                <a:latin typeface="Times New Roman"/>
                <a:ea typeface="Times New Roman"/>
              </a:rPr>
              <a:t> </a:t>
            </a:r>
            <a:r>
              <a:rPr b="1" lang="en-US" sz="2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workflow -</a:t>
            </a:r>
            <a:endParaRPr b="0" lang="en-US" sz="24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pic>
        <p:nvPicPr>
          <p:cNvPr id="37" name="" descr=""/>
          <p:cNvPicPr/>
          <p:nvPr/>
        </p:nvPicPr>
        <p:blipFill>
          <a:blip r:embed="rId1"/>
          <a:stretch/>
        </p:blipFill>
        <p:spPr>
          <a:xfrm>
            <a:off x="1643040" y="1342800"/>
            <a:ext cx="8905680" cy="4412880"/>
          </a:xfrm>
          <a:prstGeom prst="rect">
            <a:avLst/>
          </a:prstGeom>
          <a:noFill/>
          <a:ln w="252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135;p5"/>
          <p:cNvSpPr/>
          <p:nvPr/>
        </p:nvSpPr>
        <p:spPr>
          <a:xfrm>
            <a:off x="537480" y="323280"/>
            <a:ext cx="590796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Architecture blueprint</a:t>
            </a:r>
            <a:endParaRPr b="0" lang="en-US" sz="24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pic>
        <p:nvPicPr>
          <p:cNvPr id="39" name="" descr=""/>
          <p:cNvPicPr/>
          <p:nvPr/>
        </p:nvPicPr>
        <p:blipFill>
          <a:blip r:embed="rId1"/>
          <a:stretch/>
        </p:blipFill>
        <p:spPr>
          <a:xfrm>
            <a:off x="1092240" y="974160"/>
            <a:ext cx="10489680" cy="4990320"/>
          </a:xfrm>
          <a:prstGeom prst="rect">
            <a:avLst/>
          </a:prstGeom>
          <a:noFill/>
          <a:ln w="252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1"/>
          <p:cNvSpPr/>
          <p:nvPr/>
        </p:nvSpPr>
        <p:spPr>
          <a:xfrm>
            <a:off x="475560" y="283320"/>
            <a:ext cx="93168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Role of Agentic AI in the solution </a:t>
            </a:r>
            <a:endParaRPr b="0" lang="en-US" sz="32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pic>
        <p:nvPicPr>
          <p:cNvPr id="41" name="Picture 5" descr="A robot with headphones on and a neon sign that says ..."/>
          <p:cNvPicPr/>
          <p:nvPr/>
        </p:nvPicPr>
        <p:blipFill>
          <a:blip r:embed="rId1"/>
          <a:stretch/>
        </p:blipFill>
        <p:spPr>
          <a:xfrm>
            <a:off x="8772840" y="855360"/>
            <a:ext cx="2942640" cy="514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" name="TextBox 2"/>
          <p:cNvSpPr/>
          <p:nvPr/>
        </p:nvSpPr>
        <p:spPr>
          <a:xfrm>
            <a:off x="552240" y="1362960"/>
            <a:ext cx="8040240" cy="368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spcAft>
                <a:spcPts val="601"/>
              </a:spcAft>
              <a:buClr>
                <a:srgbClr val="000000"/>
              </a:buClr>
              <a:buFont typeface="Arial"/>
              <a:buAutoNum type="arabicPeriod"/>
            </a:pPr>
            <a:r>
              <a:rPr b="1" lang="en-US" sz="1800" strike="noStrike" u="none">
                <a:solidFill>
                  <a:srgbClr val="161616"/>
                </a:solidFill>
                <a:uFillTx/>
                <a:latin typeface="inherit"/>
                <a:ea typeface="Arial"/>
              </a:rPr>
              <a:t>Autonomous Goal Management</a:t>
            </a:r>
            <a:r>
              <a:rPr b="0" lang="en-US" sz="1800" strike="noStrike" u="none">
                <a:solidFill>
                  <a:srgbClr val="161616"/>
                </a:solidFill>
                <a:uFillTx/>
                <a:latin typeface="inherit"/>
                <a:ea typeface="Arial"/>
              </a:rPr>
              <a:t> – The agent sets a high‑level goal (“keep user safe”) and decomposes it into sub‑tasks (detect, inform, intervene).</a:t>
            </a:r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marL="216000" indent="-216000">
              <a:lnSpc>
                <a:spcPct val="100000"/>
              </a:lnSpc>
              <a:spcAft>
                <a:spcPts val="601"/>
              </a:spcAft>
              <a:buClr>
                <a:srgbClr val="000000"/>
              </a:buClr>
              <a:buFont typeface="Arial"/>
              <a:buAutoNum type="arabicPeriod"/>
            </a:pPr>
            <a:r>
              <a:rPr b="1" lang="en-US" sz="1800" strike="noStrike" u="none">
                <a:solidFill>
                  <a:srgbClr val="161616"/>
                </a:solidFill>
                <a:uFillTx/>
                <a:latin typeface="inherit"/>
                <a:ea typeface="Arial"/>
              </a:rPr>
              <a:t>Tool Use &amp; Planning</a:t>
            </a:r>
            <a:r>
              <a:rPr b="0" lang="en-US" sz="1800" strike="noStrike" u="none">
                <a:solidFill>
                  <a:srgbClr val="161616"/>
                </a:solidFill>
                <a:uFillTx/>
                <a:latin typeface="inherit"/>
                <a:ea typeface="Arial"/>
              </a:rPr>
              <a:t> – Dynamically decides when to fetch a coping module, schedule a reminder, or invoke a crisis‑line API.</a:t>
            </a:r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marL="216000" indent="-216000">
              <a:lnSpc>
                <a:spcPct val="100000"/>
              </a:lnSpc>
              <a:spcAft>
                <a:spcPts val="601"/>
              </a:spcAft>
              <a:buClr>
                <a:srgbClr val="000000"/>
              </a:buClr>
              <a:buFont typeface="Arial"/>
              <a:buAutoNum type="arabicPeriod"/>
            </a:pPr>
            <a:r>
              <a:rPr b="1" lang="en-US" sz="1800" strike="noStrike" u="none">
                <a:solidFill>
                  <a:srgbClr val="161616"/>
                </a:solidFill>
                <a:uFillTx/>
                <a:latin typeface="inherit"/>
                <a:ea typeface="Arial"/>
              </a:rPr>
              <a:t>Self‑Monitoring</a:t>
            </a:r>
            <a:r>
              <a:rPr b="0" lang="en-US" sz="1800" strike="noStrike" u="none">
                <a:solidFill>
                  <a:srgbClr val="161616"/>
                </a:solidFill>
                <a:uFillTx/>
                <a:latin typeface="inherit"/>
                <a:ea typeface="Arial"/>
              </a:rPr>
              <a:t> – Continuously evaluates its own confidence in risk predictions; if confidence falls below a threshold, it escalates to a human moderator.</a:t>
            </a:r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marL="216000" indent="-216000">
              <a:lnSpc>
                <a:spcPct val="100000"/>
              </a:lnSpc>
              <a:spcAft>
                <a:spcPts val="601"/>
              </a:spcAft>
              <a:buClr>
                <a:srgbClr val="000000"/>
              </a:buClr>
              <a:buFont typeface="Arial"/>
              <a:buAutoNum type="arabicPeriod"/>
            </a:pPr>
            <a:r>
              <a:rPr b="1" lang="en-US" sz="1800" strike="noStrike" u="none">
                <a:solidFill>
                  <a:srgbClr val="161616"/>
                </a:solidFill>
                <a:uFillTx/>
                <a:latin typeface="inherit"/>
                <a:ea typeface="Arial"/>
              </a:rPr>
              <a:t>Adaptive Learning</a:t>
            </a:r>
            <a:r>
              <a:rPr b="0" lang="en-US" sz="1800" strike="noStrike" u="none">
                <a:solidFill>
                  <a:srgbClr val="161616"/>
                </a:solidFill>
                <a:uFillTx/>
                <a:latin typeface="inherit"/>
                <a:ea typeface="Arial"/>
              </a:rPr>
              <a:t> – Uses reinforcement signals from user feedback to adjust prompting strategies and risk thresholds (without storing raw personal data).</a:t>
            </a:r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marL="216000" indent="-216000">
              <a:lnSpc>
                <a:spcPct val="100000"/>
              </a:lnSpc>
              <a:spcAft>
                <a:spcPts val="601"/>
              </a:spcAft>
              <a:buClr>
                <a:srgbClr val="000000"/>
              </a:buClr>
              <a:buFont typeface="Arial"/>
              <a:buAutoNum type="arabicPeriod"/>
            </a:pPr>
            <a:r>
              <a:rPr b="1" lang="en-US" sz="1800" strike="noStrike" u="none">
                <a:solidFill>
                  <a:srgbClr val="161616"/>
                </a:solidFill>
                <a:uFillTx/>
                <a:latin typeface="inherit"/>
                <a:ea typeface="Arial"/>
              </a:rPr>
              <a:t>Safety‑First Loop</a:t>
            </a:r>
            <a:r>
              <a:rPr b="0" lang="en-US" sz="1800" strike="noStrike" u="none">
                <a:solidFill>
                  <a:srgbClr val="161616"/>
                </a:solidFill>
                <a:uFillTx/>
                <a:latin typeface="inherit"/>
                <a:ea typeface="Arial"/>
              </a:rPr>
              <a:t> – Implements a “ReAct” style reasoning loop: </a:t>
            </a:r>
            <a:r>
              <a:rPr b="0" i="1" lang="en-US" sz="1800" strike="noStrike" u="none">
                <a:solidFill>
                  <a:srgbClr val="161616"/>
                </a:solidFill>
                <a:uFillTx/>
                <a:latin typeface="inherit"/>
                <a:ea typeface="Arial"/>
              </a:rPr>
              <a:t>Think → Retrieve → Act → Observe</a:t>
            </a:r>
            <a:r>
              <a:rPr b="0" lang="en-US" sz="1800" strike="noStrike" u="none">
                <a:solidFill>
                  <a:srgbClr val="161616"/>
                </a:solidFill>
                <a:uFillTx/>
                <a:latin typeface="inherit"/>
                <a:ea typeface="Arial"/>
              </a:rPr>
              <a:t> with mandatory safety checks after each act.</a:t>
            </a:r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1"/>
          <p:cNvSpPr/>
          <p:nvPr/>
        </p:nvSpPr>
        <p:spPr>
          <a:xfrm>
            <a:off x="777240" y="484560"/>
            <a:ext cx="71222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Novelty and Uniqueness</a:t>
            </a:r>
            <a:endParaRPr b="0" lang="en-US" sz="24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graphicFrame>
        <p:nvGraphicFramePr>
          <p:cNvPr id="44" name="Table 2"/>
          <p:cNvGraphicFramePr/>
          <p:nvPr/>
        </p:nvGraphicFramePr>
        <p:xfrm>
          <a:off x="777240" y="1209240"/>
          <a:ext cx="9575640" cy="5648040"/>
        </p:xfrm>
        <a:graphic>
          <a:graphicData uri="http://schemas.openxmlformats.org/drawingml/2006/table">
            <a:tbl>
              <a:tblPr rtl="0" firstCol="0" lastCol="0" firstRow="0" lastRow="0" bandRow="0" bandCol="0"/>
              <a:tblGrid>
                <a:gridCol w="4788000"/>
                <a:gridCol w="4788000"/>
              </a:tblGrid>
              <a:tr h="301680">
                <a:tc>
                  <a:txBody>
                    <a:bodyPr lIns="56160" rIns="56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6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Aspect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56160" marR="561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5760">
                      <a:solidFill>
                        <a:srgbClr val="8024ac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 lIns="56160" rIns="56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6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What Makes HopeGuard AI Unique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56160" marR="561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5760">
                      <a:solidFill>
                        <a:srgbClr val="2024ac"/>
                      </a:solidFill>
                      <a:prstDash val="solid"/>
                    </a:lnB>
                    <a:solidFill>
                      <a:srgbClr val="e0e0e0"/>
                    </a:solidFill>
                  </a:tcPr>
                </a:tc>
              </a:tr>
              <a:tr h="888480">
                <a:tc>
                  <a:txBody>
                    <a:bodyPr lIns="56160" rIns="56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6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Hybrid RAG + Psycholinguistic Scoring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56160" marR="561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8024ac"/>
                      </a:solidFill>
                      <a:prstDash val="solid"/>
                    </a:lnT>
                    <a:lnB w="5760">
                      <a:solidFill>
                        <a:srgbClr val="601da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6160" rIns="56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Combines knowledge retrieval with a dedicated distress‑signal model, enabling context‑aware, evidence‑backed replies.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56160" marR="561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2024ac"/>
                      </a:solidFill>
                      <a:prstDash val="solid"/>
                    </a:lnT>
                    <a:lnB w="5760">
                      <a:solidFill>
                        <a:srgbClr val="201ea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88480">
                <a:tc>
                  <a:txBody>
                    <a:bodyPr lIns="56160" rIns="56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6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Agentic Planning for Crisis Intervention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56160" marR="561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601dac"/>
                      </a:solidFill>
                      <a:prstDash val="solid"/>
                    </a:lnT>
                    <a:lnB w="5760">
                      <a:solidFill>
                        <a:srgbClr val="e021a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6160" rIns="56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Not just a static chatbot; it can autonomously decide to call a helpline, set reminders, or transfer to a human based on real‑time risk assessment.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56160" marR="561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201eac"/>
                      </a:solidFill>
                      <a:prstDash val="solid"/>
                    </a:lnT>
                    <a:lnB w="5760">
                      <a:solidFill>
                        <a:srgbClr val="801ea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1120">
                <a:tc>
                  <a:txBody>
                    <a:bodyPr lIns="56160" rIns="56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6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Transparent Risk Tiering &amp; Consent Workflow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56160" marR="561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e021ac"/>
                      </a:solidFill>
                      <a:prstDash val="solid"/>
                    </a:lnT>
                    <a:lnB w="5760">
                      <a:solidFill>
                        <a:srgbClr val="e01ea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6160" rIns="56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Users see their current risk level, can opt‑in/out of auto‑escalation, and receive clear explanations of each action.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56160" marR="561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801eac"/>
                      </a:solidFill>
                      <a:prstDash val="solid"/>
                    </a:lnT>
                    <a:lnB w="5760">
                      <a:solidFill>
                        <a:srgbClr val="8021a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88480">
                <a:tc>
                  <a:txBody>
                    <a:bodyPr lIns="56160" rIns="56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6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Langflow‑Powered Visual Safety Pipeline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56160" marR="561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e01eac"/>
                      </a:solidFill>
                      <a:prstDash val="solid"/>
                    </a:lnT>
                    <a:lnB w="5760">
                      <a:solidFill>
                        <a:srgbClr val="801ea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6160" rIns="56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Allows mental‑health professionals to edit, audit, and certify each node (e.g., updating the disclaimer or adding new resources) without code changes.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56160" marR="561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8021ac"/>
                      </a:solidFill>
                      <a:prstDash val="solid"/>
                    </a:lnT>
                    <a:lnB w="5760">
                      <a:solidFill>
                        <a:srgbClr val="401fa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1120">
                <a:tc>
                  <a:txBody>
                    <a:bodyPr lIns="56160" rIns="56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6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Privacy‑Centric Retrieval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56160" marR="561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801eac"/>
                      </a:solidFill>
                      <a:prstDash val="solid"/>
                    </a:lnT>
                    <a:lnB w="5760">
                      <a:solidFill>
                        <a:srgbClr val="e01ea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6160" rIns="56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Vector store is encrypted, never leaves the host environment; only anonymised embeddings are used for similarity search.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56160" marR="561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401fac"/>
                      </a:solidFill>
                      <a:prstDash val="solid"/>
                    </a:lnT>
                    <a:lnB w="5760">
                      <a:solidFill>
                        <a:srgbClr val="401fa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3760">
                <a:tc>
                  <a:txBody>
                    <a:bodyPr lIns="56160" rIns="56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6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Continuous Education Loop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56160" marR="561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e01eac"/>
                      </a:solidFill>
                      <a:prstDash val="solid"/>
                    </a:lnT>
                    <a:lnB w="5760">
                      <a:solidFill>
                        <a:srgbClr val="e01eac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 lIns="56160" rIns="56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rgbClr val="161616"/>
                          </a:solidFill>
                          <a:uFillTx/>
                          <a:latin typeface="inherit"/>
                          <a:ea typeface="Arial"/>
                        </a:rPr>
                        <a:t>After each interaction the system pushes a tailored micro‑learning tip based on the user’s current emotional state.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uFillTx/>
                        <a:latin typeface="Noto Sans CJK SC"/>
                      </a:endParaRPr>
                    </a:p>
                  </a:txBody>
                  <a:tcPr anchor="ctr" marL="56160" marR="561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5760">
                      <a:solidFill>
                        <a:srgbClr val="401fac"/>
                      </a:solidFill>
                      <a:prstDash val="solid"/>
                    </a:lnT>
                    <a:lnB w="5760">
                      <a:solidFill>
                        <a:srgbClr val="401fac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278;p18"/>
          <p:cNvSpPr/>
          <p:nvPr/>
        </p:nvSpPr>
        <p:spPr>
          <a:xfrm>
            <a:off x="1218600" y="420840"/>
            <a:ext cx="6443280" cy="70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57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Git Hub Link</a:t>
            </a:r>
            <a:endParaRPr b="0" lang="en-US" sz="24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46" name="Google Shape;279;p18"/>
          <p:cNvSpPr/>
          <p:nvPr/>
        </p:nvSpPr>
        <p:spPr>
          <a:xfrm>
            <a:off x="1004040" y="9138240"/>
            <a:ext cx="6702480" cy="491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endParaRPr b="0" lang="en-US" sz="185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-US" sz="1850" strike="noStrike" u="none">
                <a:solidFill>
                  <a:srgbClr val="2b3541"/>
                </a:solidFill>
                <a:uFillTx/>
                <a:latin typeface="Times New Roman"/>
                <a:ea typeface="Times New Roman"/>
              </a:rPr>
              <a:t> </a:t>
            </a:r>
            <a:r>
              <a:rPr b="1" lang="en-US" sz="1850" strike="noStrike" u="none">
                <a:solidFill>
                  <a:srgbClr val="2b3541"/>
                </a:solidFill>
                <a:uFillTx/>
                <a:latin typeface="Times New Roman"/>
                <a:ea typeface="Times New Roman"/>
              </a:rPr>
              <a:t>Github URL</a:t>
            </a:r>
            <a:r>
              <a:rPr b="0" lang="en-US" sz="1850" strike="noStrike" u="none">
                <a:solidFill>
                  <a:srgbClr val="2b3541"/>
                </a:solidFill>
                <a:uFillTx/>
                <a:latin typeface="Times New Roman"/>
                <a:ea typeface="Times New Roman"/>
              </a:rPr>
              <a:t> –https://github.com/jangidvasudev03-coder</a:t>
            </a:r>
            <a:endParaRPr b="0" lang="en-US" sz="185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>
              <a:lnSpc>
                <a:spcPct val="162000"/>
              </a:lnSpc>
              <a:tabLst>
                <a:tab algn="l" pos="0"/>
              </a:tabLst>
            </a:pPr>
            <a:endParaRPr b="0" lang="en-US" sz="185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1" lang="en-US" sz="1850" strike="noStrike" u="none">
                <a:solidFill>
                  <a:srgbClr val="2b3541"/>
                </a:solidFill>
                <a:uFillTx/>
                <a:latin typeface="Times New Roman"/>
                <a:ea typeface="Times New Roman"/>
              </a:rPr>
              <a:t> </a:t>
            </a:r>
            <a:r>
              <a:rPr b="1" lang="en-US" sz="1850" strike="noStrike" u="none">
                <a:solidFill>
                  <a:srgbClr val="2b3541"/>
                </a:solidFill>
                <a:uFillTx/>
                <a:latin typeface="Times New Roman"/>
                <a:ea typeface="Times New Roman"/>
              </a:rPr>
              <a:t>The Files Uploaded on Github repository  </a:t>
            </a:r>
            <a:br>
              <a:rPr sz="1850"/>
            </a:br>
            <a:r>
              <a:rPr b="0" lang="en-US" sz="1850" strike="noStrike" u="none">
                <a:solidFill>
                  <a:srgbClr val="2b3541"/>
                </a:solidFill>
                <a:uFillTx/>
                <a:latin typeface="Times New Roman"/>
                <a:ea typeface="Times New Roman"/>
              </a:rPr>
              <a:t>1) app.json file , </a:t>
            </a:r>
            <a:endParaRPr b="0" lang="en-US" sz="185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-US" sz="1850" strike="noStrike" u="none">
                <a:solidFill>
                  <a:srgbClr val="2b3541"/>
                </a:solidFill>
                <a:uFillTx/>
                <a:latin typeface="Times New Roman"/>
                <a:ea typeface="Times New Roman"/>
              </a:rPr>
              <a:t>2) yourproblemstatement.pdf file</a:t>
            </a:r>
            <a:endParaRPr b="0" lang="en-US" sz="185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-US" sz="1850" strike="noStrike" u="none">
                <a:solidFill>
                  <a:srgbClr val="2b3541"/>
                </a:solidFill>
                <a:uFillTx/>
                <a:latin typeface="Times New Roman"/>
                <a:ea typeface="Times New Roman"/>
              </a:rPr>
              <a:t>3) your projectpresntation.pptx file</a:t>
            </a:r>
            <a:endParaRPr b="0" lang="en-US" sz="185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-US" sz="1850" strike="noStrike" u="none">
                <a:solidFill>
                  <a:srgbClr val="2b3541"/>
                </a:solidFill>
                <a:uFillTx/>
                <a:latin typeface="Times New Roman"/>
                <a:ea typeface="Times New Roman"/>
              </a:rPr>
              <a:t>4)any other files </a:t>
            </a:r>
            <a:endParaRPr b="0" lang="en-US" sz="185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>
              <a:lnSpc>
                <a:spcPct val="162000"/>
              </a:lnSpc>
              <a:tabLst>
                <a:tab algn="l" pos="0"/>
              </a:tabLst>
            </a:pPr>
            <a:endParaRPr b="0" lang="en-US" sz="185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1927800" y="1374840"/>
            <a:ext cx="7440120" cy="4074840"/>
          </a:xfrm>
          <a:prstGeom prst="rect">
            <a:avLst/>
          </a:prstGeom>
          <a:noFill/>
          <a:ln w="2520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Noto Sans CJK SC"/>
              </a:rPr>
              <a:t>GITHUB URL - </a:t>
            </a:r>
            <a:r>
              <a:rPr b="0" lang="en-US" sz="1800" strike="noStrike" u="none">
                <a:solidFill>
                  <a:srgbClr val="000000"/>
                </a:solidFill>
                <a:uFillTx/>
                <a:latin typeface="Noto Sans CJK SC"/>
                <a:hlinkClick r:id="rId1"/>
              </a:rPr>
              <a:t>https://github.com/madhuragunjal35-cyber/Ibm-project</a:t>
            </a:r>
            <a:r>
              <a:rPr b="0" lang="en-US" sz="1800" strike="noStrike" u="none">
                <a:solidFill>
                  <a:srgbClr val="000000"/>
                </a:solidFill>
                <a:uFillTx/>
                <a:latin typeface="Noto Sans CJK SC"/>
              </a:rPr>
              <a:t>.</a:t>
            </a:r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Noto Sans CJK SC"/>
              </a:rPr>
              <a:t>files upload on GitHub </a:t>
            </a:r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Noto Sans CJK SC"/>
              </a:rPr>
              <a:t>1.zivy.html</a:t>
            </a:r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Noto Sans CJK SC"/>
              </a:rPr>
              <a:t>2.madhura_IBM project </a:t>
            </a:r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uFillTx/>
                <a:latin typeface="Noto Sans CJK SC"/>
              </a:rPr>
              <a:t>3.</a:t>
            </a:r>
            <a:endParaRPr b="0" lang="en-US" sz="1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278;p18"/>
          <p:cNvSpPr/>
          <p:nvPr/>
        </p:nvSpPr>
        <p:spPr>
          <a:xfrm>
            <a:off x="1218600" y="420840"/>
            <a:ext cx="6443280" cy="70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57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Future Scope </a:t>
            </a:r>
            <a:endParaRPr b="0" lang="en-US" sz="24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49" name="Google Shape;280;p18"/>
          <p:cNvSpPr/>
          <p:nvPr/>
        </p:nvSpPr>
        <p:spPr>
          <a:xfrm>
            <a:off x="1218600" y="3360240"/>
            <a:ext cx="7467480" cy="76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-US" sz="1850" strike="noStrike" u="none">
                <a:solidFill>
                  <a:srgbClr val="2b3541"/>
                </a:solidFill>
                <a:uFillTx/>
                <a:latin typeface="Times New Roman"/>
                <a:ea typeface="Times New Roman"/>
              </a:rPr>
              <a:t>·</a:t>
            </a:r>
            <a:endParaRPr b="0" lang="en-US" sz="185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50" name="Google Shape;281;p18"/>
          <p:cNvSpPr/>
          <p:nvPr/>
        </p:nvSpPr>
        <p:spPr>
          <a:xfrm>
            <a:off x="1218600" y="4395600"/>
            <a:ext cx="7467480" cy="76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-US" sz="1850" strike="noStrike" u="none">
                <a:solidFill>
                  <a:srgbClr val="2b3541"/>
                </a:solidFill>
                <a:uFillTx/>
                <a:latin typeface="Times New Roman"/>
                <a:ea typeface="Times New Roman"/>
              </a:rPr>
              <a:t>·</a:t>
            </a:r>
            <a:endParaRPr b="0" lang="en-US" sz="185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51" name="Google Shape;282;p18"/>
          <p:cNvSpPr/>
          <p:nvPr/>
        </p:nvSpPr>
        <p:spPr>
          <a:xfrm>
            <a:off x="1218600" y="5430600"/>
            <a:ext cx="746748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-US" sz="1850" strike="noStrike" u="none">
                <a:solidFill>
                  <a:srgbClr val="2b3541"/>
                </a:solidFill>
                <a:uFillTx/>
                <a:latin typeface="Times New Roman"/>
                <a:ea typeface="Times New Roman"/>
              </a:rPr>
              <a:t>·</a:t>
            </a:r>
            <a:endParaRPr b="0" lang="en-US" sz="185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52" name="TextBox 3"/>
          <p:cNvSpPr/>
          <p:nvPr/>
        </p:nvSpPr>
        <p:spPr>
          <a:xfrm>
            <a:off x="1062000" y="1183320"/>
            <a:ext cx="8621640" cy="39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spcAft>
                <a:spcPts val="601"/>
              </a:spcAft>
              <a:buClr>
                <a:srgbClr val="000000"/>
              </a:buClr>
              <a:buFont typeface="Arial"/>
              <a:buAutoNum type="arabicPeriod"/>
            </a:pPr>
            <a:r>
              <a:rPr b="1" lang="en-US" sz="1600" strike="noStrike" u="none">
                <a:solidFill>
                  <a:srgbClr val="161616"/>
                </a:solidFill>
                <a:uFillTx/>
                <a:latin typeface="inherit"/>
                <a:ea typeface="Arial"/>
              </a:rPr>
              <a:t>Multimodal Input</a:t>
            </a:r>
            <a:r>
              <a:rPr b="0" lang="en-US" sz="1600" strike="noStrike" u="none">
                <a:solidFill>
                  <a:srgbClr val="161616"/>
                </a:solidFill>
                <a:uFillTx/>
                <a:latin typeface="inherit"/>
                <a:ea typeface="Arial"/>
              </a:rPr>
              <a:t> – Add voice sentiment analysis and affect detection from facial expressions (with explicit consent).</a:t>
            </a:r>
            <a:endParaRPr b="0" lang="en-US" sz="16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marL="216000" indent="-216000">
              <a:lnSpc>
                <a:spcPct val="100000"/>
              </a:lnSpc>
              <a:spcAft>
                <a:spcPts val="601"/>
              </a:spcAft>
              <a:buClr>
                <a:srgbClr val="000000"/>
              </a:buClr>
              <a:buFont typeface="Arial"/>
              <a:buAutoNum type="arabicPeriod"/>
            </a:pPr>
            <a:r>
              <a:rPr b="1" lang="en-US" sz="1600" strike="noStrike" u="none">
                <a:solidFill>
                  <a:srgbClr val="161616"/>
                </a:solidFill>
                <a:uFillTx/>
                <a:latin typeface="inherit"/>
                <a:ea typeface="Arial"/>
              </a:rPr>
              <a:t>Community‑Driven Resource Curation</a:t>
            </a:r>
            <a:r>
              <a:rPr b="0" lang="en-US" sz="1600" strike="noStrike" u="none">
                <a:solidFill>
                  <a:srgbClr val="161616"/>
                </a:solidFill>
                <a:uFillTx/>
                <a:latin typeface="inherit"/>
                <a:ea typeface="Arial"/>
              </a:rPr>
              <a:t> – Enable vetted peer‑support groups and moderated forums that the RAG engine can pull from.</a:t>
            </a:r>
            <a:endParaRPr b="0" lang="en-US" sz="16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marL="216000" indent="-216000">
              <a:lnSpc>
                <a:spcPct val="100000"/>
              </a:lnSpc>
              <a:spcAft>
                <a:spcPts val="601"/>
              </a:spcAft>
              <a:buClr>
                <a:srgbClr val="000000"/>
              </a:buClr>
              <a:buFont typeface="Arial"/>
              <a:buAutoNum type="arabicPeriod"/>
            </a:pPr>
            <a:r>
              <a:rPr b="1" lang="en-US" sz="1600" strike="noStrike" u="none">
                <a:solidFill>
                  <a:srgbClr val="161616"/>
                </a:solidFill>
                <a:uFillTx/>
                <a:latin typeface="inherit"/>
                <a:ea typeface="Arial"/>
              </a:rPr>
              <a:t>Personalized Therapy Pathways</a:t>
            </a:r>
            <a:r>
              <a:rPr b="0" lang="en-US" sz="1600" strike="noStrike" u="none">
                <a:solidFill>
                  <a:srgbClr val="161616"/>
                </a:solidFill>
                <a:uFillTx/>
                <a:latin typeface="inherit"/>
                <a:ea typeface="Arial"/>
              </a:rPr>
              <a:t> – Integrate with licensed tele‑therapy platforms to schedule professional sessions automatically.</a:t>
            </a:r>
            <a:endParaRPr b="0" lang="en-US" sz="16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marL="216000" indent="-216000">
              <a:lnSpc>
                <a:spcPct val="100000"/>
              </a:lnSpc>
              <a:spcAft>
                <a:spcPts val="601"/>
              </a:spcAft>
              <a:buClr>
                <a:srgbClr val="000000"/>
              </a:buClr>
              <a:buFont typeface="Arial"/>
              <a:buAutoNum type="arabicPeriod"/>
            </a:pPr>
            <a:r>
              <a:rPr b="1" lang="en-US" sz="1600" strike="noStrike" u="none">
                <a:solidFill>
                  <a:srgbClr val="161616"/>
                </a:solidFill>
                <a:uFillTx/>
                <a:latin typeface="inherit"/>
                <a:ea typeface="Arial"/>
              </a:rPr>
              <a:t>Cross‑Cultural &amp; Language Expansion</a:t>
            </a:r>
            <a:r>
              <a:rPr b="0" lang="en-US" sz="1600" strike="noStrike" u="none">
                <a:solidFill>
                  <a:srgbClr val="161616"/>
                </a:solidFill>
                <a:uFillTx/>
                <a:latin typeface="inherit"/>
                <a:ea typeface="Arial"/>
              </a:rPr>
              <a:t> – Fine‑tune models for additional languages and culturally specific coping strategies.</a:t>
            </a:r>
            <a:endParaRPr b="0" lang="en-US" sz="16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marL="216000" indent="-216000">
              <a:lnSpc>
                <a:spcPct val="100000"/>
              </a:lnSpc>
              <a:spcAft>
                <a:spcPts val="601"/>
              </a:spcAft>
              <a:buClr>
                <a:srgbClr val="000000"/>
              </a:buClr>
              <a:buFont typeface="Arial"/>
              <a:buAutoNum type="arabicPeriod"/>
            </a:pPr>
            <a:r>
              <a:rPr b="1" lang="en-US" sz="1600" strike="noStrike" u="none">
                <a:solidFill>
                  <a:srgbClr val="161616"/>
                </a:solidFill>
                <a:uFillTx/>
                <a:latin typeface="inherit"/>
                <a:ea typeface="Arial"/>
              </a:rPr>
              <a:t>Predictive Analytics Dashboard for Caregivers</a:t>
            </a:r>
            <a:r>
              <a:rPr b="0" lang="en-US" sz="1600" strike="noStrike" u="none">
                <a:solidFill>
                  <a:srgbClr val="161616"/>
                </a:solidFill>
                <a:uFillTx/>
                <a:latin typeface="inherit"/>
                <a:ea typeface="Arial"/>
              </a:rPr>
              <a:t> – Aggregate anonymized risk trends to inform public‑health interventions.</a:t>
            </a:r>
            <a:endParaRPr b="0" lang="en-US" sz="16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marL="216000" indent="-216000">
              <a:lnSpc>
                <a:spcPct val="100000"/>
              </a:lnSpc>
              <a:spcAft>
                <a:spcPts val="601"/>
              </a:spcAft>
              <a:buClr>
                <a:srgbClr val="000000"/>
              </a:buClr>
              <a:buFont typeface="Arial"/>
              <a:buAutoNum type="arabicPeriod"/>
            </a:pPr>
            <a:r>
              <a:rPr b="1" lang="en-US" sz="1600" strike="noStrike" u="none">
                <a:solidFill>
                  <a:srgbClr val="161616"/>
                </a:solidFill>
                <a:uFillTx/>
                <a:latin typeface="inherit"/>
                <a:ea typeface="Arial"/>
              </a:rPr>
              <a:t>Regulatory Certification</a:t>
            </a:r>
            <a:r>
              <a:rPr b="0" lang="en-US" sz="1600" strike="noStrike" u="none">
                <a:solidFill>
                  <a:srgbClr val="161616"/>
                </a:solidFill>
                <a:uFillTx/>
                <a:latin typeface="inherit"/>
                <a:ea typeface="Arial"/>
              </a:rPr>
              <a:t> – Pursue FDA/EMA Digital Therapeutic designation and CE‑Mark compliance for clinical use.</a:t>
            </a:r>
            <a:endParaRPr b="0" lang="en-US" sz="16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marL="216000" indent="-216000">
              <a:lnSpc>
                <a:spcPct val="100000"/>
              </a:lnSpc>
              <a:spcAft>
                <a:spcPts val="601"/>
              </a:spcAft>
              <a:buClr>
                <a:srgbClr val="000000"/>
              </a:buClr>
              <a:buFont typeface="Arial"/>
              <a:buAutoNum type="arabicPeriod"/>
            </a:pPr>
            <a:r>
              <a:rPr b="1" lang="en-US" sz="1600" strike="noStrike" u="none">
                <a:solidFill>
                  <a:srgbClr val="161616"/>
                </a:solidFill>
                <a:uFillTx/>
                <a:latin typeface="inherit"/>
                <a:ea typeface="Arial"/>
              </a:rPr>
              <a:t>Research Collaboration</a:t>
            </a:r>
            <a:r>
              <a:rPr b="0" lang="en-US" sz="1600" strike="noStrike" u="none">
                <a:solidFill>
                  <a:srgbClr val="161616"/>
                </a:solidFill>
                <a:uFillTx/>
                <a:latin typeface="inherit"/>
                <a:ea typeface="Arial"/>
              </a:rPr>
              <a:t> – Share de‑identified interaction logs with academic partners to improve early‑detection algorithms while respecting privacy.</a:t>
            </a:r>
            <a:endParaRPr b="0" lang="en-US" sz="16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5"/>
          <p:cNvSpPr/>
          <p:nvPr/>
        </p:nvSpPr>
        <p:spPr>
          <a:xfrm>
            <a:off x="327960" y="207360"/>
            <a:ext cx="609480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Certificates Earned:</a:t>
            </a:r>
            <a:endParaRPr b="0" lang="en-US" sz="24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algn="ctr">
              <a:lnSpc>
                <a:spcPct val="100000"/>
              </a:lnSpc>
            </a:pPr>
            <a:endParaRPr b="0" lang="en-US" sz="14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54" name="TextBox 2"/>
          <p:cNvSpPr/>
          <p:nvPr/>
        </p:nvSpPr>
        <p:spPr>
          <a:xfrm>
            <a:off x="551880" y="690120"/>
            <a:ext cx="63889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Please  add your credly certificate </a:t>
            </a:r>
            <a:endParaRPr b="0" lang="en-US" sz="28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pic>
        <p:nvPicPr>
          <p:cNvPr id="55" name="" descr=""/>
          <p:cNvPicPr/>
          <p:nvPr/>
        </p:nvPicPr>
        <p:blipFill>
          <a:blip r:embed="rId1"/>
          <a:stretch/>
        </p:blipFill>
        <p:spPr>
          <a:xfrm>
            <a:off x="1870560" y="1182960"/>
            <a:ext cx="8205480" cy="5521320"/>
          </a:xfrm>
          <a:prstGeom prst="rect">
            <a:avLst/>
          </a:prstGeom>
          <a:noFill/>
          <a:ln w="252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4"/>
          <p:cNvSpPr/>
          <p:nvPr/>
        </p:nvSpPr>
        <p:spPr>
          <a:xfrm>
            <a:off x="176760" y="226440"/>
            <a:ext cx="609480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Certificates Earned:</a:t>
            </a:r>
            <a:r>
              <a:rPr b="0" lang="en-US" sz="2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​</a:t>
            </a:r>
            <a:endParaRPr b="0" lang="en-US" sz="2400" strike="noStrike" u="none">
              <a:solidFill>
                <a:srgbClr val="000000"/>
              </a:solidFill>
              <a:uFillTx/>
              <a:latin typeface="Noto Sans CJK SC"/>
            </a:endParaRPr>
          </a:p>
          <a:p>
            <a:pPr algn="ctr">
              <a:lnSpc>
                <a:spcPct val="100000"/>
              </a:lnSpc>
            </a:pPr>
            <a:endParaRPr b="0" lang="en-US" sz="14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sp>
        <p:nvSpPr>
          <p:cNvPr id="57" name="TextBox 5"/>
          <p:cNvSpPr/>
          <p:nvPr/>
        </p:nvSpPr>
        <p:spPr>
          <a:xfrm>
            <a:off x="496800" y="800640"/>
            <a:ext cx="54367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Add your IBM BOB Certificate</a:t>
            </a:r>
            <a:endParaRPr b="0" lang="en-US" sz="2000" strike="noStrike" u="none">
              <a:solidFill>
                <a:srgbClr val="000000"/>
              </a:solidFill>
              <a:uFillTx/>
              <a:latin typeface="Noto Sans CJK SC"/>
            </a:endParaRPr>
          </a:p>
        </p:txBody>
      </p:sp>
      <p:pic>
        <p:nvPicPr>
          <p:cNvPr id="58" name="" descr=""/>
          <p:cNvPicPr/>
          <p:nvPr/>
        </p:nvPicPr>
        <p:blipFill>
          <a:blip r:embed="rId1"/>
          <a:stretch/>
        </p:blipFill>
        <p:spPr>
          <a:xfrm>
            <a:off x="1511280" y="1227960"/>
            <a:ext cx="9134280" cy="5537880"/>
          </a:xfrm>
          <a:prstGeom prst="rect">
            <a:avLst/>
          </a:prstGeom>
          <a:noFill/>
          <a:ln w="252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310;p20" descr=""/>
          <p:cNvPicPr/>
          <p:nvPr/>
        </p:nvPicPr>
        <p:blipFill>
          <a:blip r:embed="rId1"/>
          <a:stretch/>
        </p:blipFill>
        <p:spPr>
          <a:xfrm>
            <a:off x="0" y="2190240"/>
            <a:ext cx="12191040" cy="2476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</TotalTime>
  <Application>LibreOfficeDev/24.8.7.2.0$Android_AARCH64 LibreOffice_project/</Application>
  <AppVersion>15.0000</AppVersion>
  <Words>1560</Words>
  <Paragraphs>146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2025-07-08T05:06:56Z</dcterms:created>
  <dc:creator>Manda Anirudh</dc:creator>
  <dc:description/>
  <dc:language>zh-CN</dc:language>
  <cp:lastModifiedBy/>
  <dcterms:modified xsi:type="dcterms:W3CDTF">2026-06-28T15:45:21Z</dcterms:modified>
  <cp:revision>21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Widescreen</vt:lpwstr>
  </property>
  <property fmtid="{D5CDD505-2E9C-101B-9397-08002B2CF9AE}" pid="4" name="Slides">
    <vt:i4>15</vt:i4>
  </property>
</Properties>
</file>